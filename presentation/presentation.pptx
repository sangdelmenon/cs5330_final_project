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6868B"/>
                </a:solidFill>
              </a:rPr>
              <a:t>CS5330  ·  FINAL PROJECT  ·  SPRING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F5F7"/>
                </a:solidFill>
              </a:rPr>
              <a:t>Real-Time Object Recognition
and AR Overlay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2606040"/>
            <a:ext cx="914400" cy="25400"/>
          </a:xfrm>
          <a:prstGeom prst="rect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6868B"/>
                </a:solidFill>
              </a:rPr>
              <a:t>Using deep learning to turn any everyday object into an augmented reality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319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6868B"/>
                </a:solidFill>
              </a:rPr>
              <a:t>Sangeeth Deleep Menon  ·  NUID 002524579  ·  Raj Gupta  ·  NUID 002068701
Khoury College of Computer Sciences  ·  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Traditional AR needs a printed marker.
What if the object itself was the marker?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94560"/>
            <a:ext cx="4572000" cy="14173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2304288"/>
            <a:ext cx="4315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4 GAVE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560320"/>
            <a:ext cx="43159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AR rendering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3182112"/>
            <a:ext cx="43159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3D graphics overlaid using a chessboard calibration target to estimate camera 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194560"/>
            <a:ext cx="4572000" cy="141732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2304288"/>
            <a:ext cx="4315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PROJECT 5 GAVE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2560320"/>
            <a:ext cx="43159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1616" y="3182112"/>
            <a:ext cx="43159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CNNs and Vision Transformers trained to classify images from a camera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840480"/>
            <a:ext cx="10360152" cy="6858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2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997FF"/>
                </a:solidFill>
              </a:rPr>
              <a:t>This project combines both. No marker required.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DATA AND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F5F7"/>
                </a:solidFill>
              </a:rPr>
              <a:t>10 classes  ·  1419 images  ·  4-step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642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642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3852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38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9385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7685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cup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768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276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1518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1518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6151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535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535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953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9184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9184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918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0D158"/>
                </a:solidFill>
              </a:rPr>
              <a:t>Webcam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3016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glasses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3016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6301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9684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headphones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9684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9684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0682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30682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3068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64515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ps5_controller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4515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645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98348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tablet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9834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7"/>
                </a:solidFill>
              </a:rPr>
              <a:t>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9834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868B"/>
                </a:solidFill>
              </a:rPr>
              <a:t>Web</a:t>
            </a:r>
          </a:p>
        </p:txBody>
      </p:sp>
      <p:sp>
        <p:nvSpPr>
          <p:cNvPr id="37" name="Oval 36"/>
          <p:cNvSpPr/>
          <p:nvPr/>
        </p:nvSpPr>
        <p:spPr>
          <a:xfrm>
            <a:off x="6126480" y="172821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1700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169164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Classify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202082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Crop center ROI, run through MobileNetV2 to get class and confidence score</a:t>
            </a:r>
          </a:p>
        </p:txBody>
      </p:sp>
      <p:sp>
        <p:nvSpPr>
          <p:cNvPr id="41" name="Oval 40"/>
          <p:cNvSpPr/>
          <p:nvPr/>
        </p:nvSpPr>
        <p:spPr>
          <a:xfrm>
            <a:off x="6126480" y="296265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29352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2926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Smooth and reject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32552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5-frame majority-vote removes flicker; entropy check labels uncertain frames as Unknown</a:t>
            </a:r>
          </a:p>
        </p:txBody>
      </p:sp>
      <p:sp>
        <p:nvSpPr>
          <p:cNvPr id="45" name="Oval 44"/>
          <p:cNvSpPr/>
          <p:nvPr/>
        </p:nvSpPr>
        <p:spPr>
          <a:xfrm>
            <a:off x="6126480" y="419709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41696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41605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Estimate pose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448970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Fixed-depth pinhole model back-projects the ROI into 3D at 0.5 m</a:t>
            </a:r>
          </a:p>
        </p:txBody>
      </p:sp>
      <p:sp>
        <p:nvSpPr>
          <p:cNvPr id="49" name="Oval 48"/>
          <p:cNvSpPr/>
          <p:nvPr/>
        </p:nvSpPr>
        <p:spPr>
          <a:xfrm>
            <a:off x="6126480" y="543153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54041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39496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F5F7"/>
                </a:solidFill>
              </a:rPr>
              <a:t>Render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72414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Project 8 box corners with cv2.projectPoints, draw wireframe box and floating label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ARCHITECTURES AND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Three approaches, one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783080"/>
            <a:ext cx="3657600" cy="4434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CUSTOM CNN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3-layer conv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64x64 RGB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BatchNorm + Dropout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Trained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2.19M 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596128"/>
            <a:ext cx="3383280" cy="384048"/>
          </a:xfrm>
          <a:prstGeom prst="rect">
            <a:avLst/>
          </a:prstGeom>
          <a:solidFill>
            <a:srgbClr val="1A1A1C"/>
          </a:solidFill>
          <a:ln w="12700">
            <a:solidFill>
              <a:srgbClr val="1A1A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79.7% on 5 classes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783080"/>
            <a:ext cx="3657600" cy="44348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VISION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ObjectViT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8x8 patch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64 patches per image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4 transformer layers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Trained from scratch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0.83M parameters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5596128"/>
            <a:ext cx="3383280" cy="384048"/>
          </a:xfrm>
          <a:prstGeom prst="rect">
            <a:avLst/>
          </a:prstGeom>
          <a:solidFill>
            <a:srgbClr val="1A1A1C"/>
          </a:solidFill>
          <a:ln w="12700">
            <a:solidFill>
              <a:srgbClr val="1A1A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6868B"/>
                </a:solidFill>
              </a:rPr>
              <a:t>43.2% on 10 classes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783080"/>
            <a:ext cx="3657600" cy="4434840"/>
          </a:xfrm>
          <a:prstGeom prst="rect">
            <a:avLst/>
          </a:prstGeom>
          <a:solidFill>
            <a:srgbClr val="0A1929"/>
          </a:solidFill>
          <a:ln w="25400">
            <a:solidFill>
              <a:srgbClr val="299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9019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997FF"/>
                </a:solidFill>
              </a:rPr>
              <a:t>TRANSFER LEARNING  ❖  DEPLOYED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762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5F7"/>
                </a:solidFill>
              </a:rPr>
              <a:t>MobileNetV2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9911" y="27249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ImageNet pretrained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1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224x224 RGB 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9911" y="3493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Fine-tuned classifier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1" y="3877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Dropout 0.3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261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•  2.24M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5596128"/>
            <a:ext cx="3383280" cy="384048"/>
          </a:xfrm>
          <a:prstGeom prst="rect">
            <a:avLst/>
          </a:prstGeom>
          <a:solidFill>
            <a:srgbClr val="0D2A45"/>
          </a:solidFill>
          <a:ln w="12700">
            <a:solidFill>
              <a:srgbClr val="0D2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997FF"/>
                </a:solidFill>
              </a:rPr>
              <a:t>88.8% on 10 classes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WHERE IT STRUGGLES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Confusion tells the story</a:t>
            </a:r>
          </a:p>
        </p:txBody>
      </p:sp>
      <p:pic>
        <p:nvPicPr>
          <p:cNvPr id="4" name="Picture 3" descr="MOBILENET_Confusion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577840" cy="502005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63640" y="169164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91655" y="180136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53A"/>
                </a:solidFill>
              </a:rPr>
              <a:t>TABLET — WEAKEST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1655" y="2057400"/>
            <a:ext cx="523036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Flat rectangular devices look nearly identical to phones and laptops at certain angles. Tablet finished at 70% precision, the lowest of all 10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3200400"/>
            <a:ext cx="5486400" cy="137160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5" y="331012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60A"/>
                </a:solidFill>
              </a:rPr>
              <a:t>HEADPHONES — CAUTIOUS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655" y="3566160"/>
            <a:ext cx="5230368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100% precision but only 63.6% recall. The model almost never guesses headphones incorrectly, but it often misses them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709160"/>
            <a:ext cx="5486400" cy="1417320"/>
          </a:xfrm>
          <a:prstGeom prst="rect">
            <a:avLst/>
          </a:prstGeom>
          <a:solidFill>
            <a:srgbClr val="0A1929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4818888"/>
            <a:ext cx="5230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5074920"/>
            <a:ext cx="5230368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Errors are driven by visual ambiguity at class boundaries. PS5 controller (web-only) scored 95% on both metrics and glasses recovered to 87.5%, so data source alone does not predict failure.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DEMO CAPTURE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F5F7"/>
                </a:solidFill>
              </a:rPr>
              <a:t>AR overlay in action</a:t>
            </a:r>
          </a:p>
        </p:txBody>
      </p:sp>
      <p:pic>
        <p:nvPicPr>
          <p:cNvPr id="4" name="Picture 3" descr="a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1640"/>
            <a:ext cx="5577840" cy="31375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6916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5F5F7"/>
                </a:solidFill>
              </a:rPr>
              <a:t>A PS5 DualSense controller is in the center ROI. The model predicts ps5_controller at 85%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51460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6868B"/>
                </a:solidFill>
              </a:rPr>
              <a:t>The green 3D wireframe box is cleanly anchored with visible front and back faces. The label tag appears above the front 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3474720"/>
            <a:ext cx="5486400" cy="146304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58444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6868B"/>
                </a:solidFill>
              </a:rPr>
              <a:t>LIVE SESSION STATS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136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0D158"/>
                </a:solidFill>
              </a:rPr>
              <a:t>20-30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4988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9136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997FF"/>
                </a:solidFill>
              </a:rPr>
              <a:t>0.50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988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6868B"/>
                </a:solidFill>
              </a:rPr>
              <a:t>Confidence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6576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97FF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997FF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object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0D158"/>
                </a:solidFill>
              </a:rPr>
              <a:t>88.8%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test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F5F7"/>
                </a:solidFill>
              </a:rPr>
              <a:t>20-30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fps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685800"/>
            <a:ext cx="2651760" cy="1508760"/>
          </a:xfrm>
          <a:prstGeom prst="rect">
            <a:avLst/>
          </a:prstGeom>
          <a:solidFill>
            <a:srgbClr val="161617"/>
          </a:solidFill>
          <a:ln w="12700">
            <a:solidFill>
              <a:srgbClr val="2D2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841248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D60A"/>
                </a:solidFill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6868B"/>
                </a:solidFill>
              </a:rPr>
              <a:t>printed markers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53A"/>
                </a:solidFill>
              </a:rPr>
              <a:t>REMAINING LIMITATIONS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365760" y="2871216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43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center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272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Objects off to the side are not detected</a:t>
            </a:r>
          </a:p>
        </p:txBody>
      </p:sp>
      <p:sp>
        <p:nvSpPr>
          <p:cNvPr id="20" name="Oval 19"/>
          <p:cNvSpPr/>
          <p:nvPr/>
        </p:nvSpPr>
        <p:spPr>
          <a:xfrm>
            <a:off x="365760" y="3877056"/>
            <a:ext cx="347472" cy="347472"/>
          </a:xfrm>
          <a:prstGeom prst="ellipse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49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53A"/>
                </a:solidFill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840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F5F7"/>
                </a:solidFill>
              </a:rPr>
              <a:t>Fixed depth (0.5 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133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868B"/>
                </a:solidFill>
              </a:rPr>
              <a:t>Box scale is incorrect at very different distances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997FF"/>
                </a:solidFill>
              </a:rPr>
              <a:t>ALREADY ADDRESSED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0" y="287121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8437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8346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5-frame majority-vote buffer eliminates label flickering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3877056"/>
            <a:ext cx="347472" cy="347472"/>
          </a:xfrm>
          <a:prstGeom prst="ellipse">
            <a:avLst/>
          </a:prstGeom>
          <a:solidFill>
            <a:srgbClr val="29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8496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8404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F5F7"/>
                </a:solidFill>
              </a:rPr>
              <a:t>Entropy-based rejection shows Unknown when no familiar object is 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62636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6868B"/>
                </a:solidFill>
              </a:rPr>
              <a:t>Sangeeth Deleep Menon  ·  NUID 002524579  ·  Raj Gupta  ·  NUID 002068701  ·  CS5330 Spring 2026  ·  Northeastern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