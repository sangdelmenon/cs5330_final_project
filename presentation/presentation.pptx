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6868B"/>
                </a:solidFill>
              </a:rPr>
              <a:t>CS5330  ·  FINAL PROJECT  ·  SPRING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5F5F7"/>
                </a:solidFill>
              </a:rPr>
              <a:t>Real-Time Object Recognition
and AR Overlay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41848" y="2606040"/>
            <a:ext cx="914400" cy="25400"/>
          </a:xfrm>
          <a:prstGeom prst="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6868B"/>
                </a:solidFill>
              </a:rPr>
              <a:t>Using deep learning to turn any everyday object into an augmented reality anchor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93192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6868B"/>
                </a:solidFill>
              </a:rPr>
              <a:t>Sangeeth Deleep Menon  ·  NUID 002524579  ·  Raj Gupta  ·  NUID 002068701
Khoury College of Computer Sciences  ·  Northeastern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657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F5F7"/>
                </a:solidFill>
              </a:rPr>
              <a:t>Traditional AR needs a printed marker.
What if the object itself was the marker?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194560"/>
            <a:ext cx="4572000" cy="141732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2304288"/>
            <a:ext cx="4315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PROJECT 4 GAVE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" y="2560320"/>
            <a:ext cx="43159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AR rendering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3182112"/>
            <a:ext cx="431596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3D graphics overlaid using a chessboard calibration target to estimate camera pose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2194560"/>
            <a:ext cx="4572000" cy="141732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2304288"/>
            <a:ext cx="4315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PROJECT 5 GAVE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6" y="2560320"/>
            <a:ext cx="43159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Deep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71616" y="3182112"/>
            <a:ext cx="431596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CNNs and Vision Transformers trained to classify images from a camera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840480"/>
            <a:ext cx="10360152" cy="685800"/>
          </a:xfrm>
          <a:prstGeom prst="rect">
            <a:avLst/>
          </a:prstGeom>
          <a:solidFill>
            <a:srgbClr val="0A1929"/>
          </a:solidFill>
          <a:ln w="127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13632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2997FF"/>
                </a:solidFill>
              </a:rPr>
              <a:t>This project combines both. No marker required.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657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DATA AND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F5F7"/>
                </a:solidFill>
              </a:rPr>
              <a:t>10 classes  ·  1419 images  ·  4-step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66420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6642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IMAGES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642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38528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38528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93852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7685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cup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7685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27685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1518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keyboard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1518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152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61518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9535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5351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9535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29184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9184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29184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630168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glasses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630168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63016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396849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headphones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96849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96849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30682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laptop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30682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430682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64515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ps5_controller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6451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464515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98348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tablet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98348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498348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37" name="Oval 36"/>
          <p:cNvSpPr/>
          <p:nvPr/>
        </p:nvSpPr>
        <p:spPr>
          <a:xfrm>
            <a:off x="6126480" y="1728216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0" y="170078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01968" y="169164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F5F7"/>
                </a:solidFill>
              </a:rPr>
              <a:t>Classify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01968" y="202082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Crop center ROI, run through MobileNetV2 to get class and confidence score</a:t>
            </a:r>
          </a:p>
        </p:txBody>
      </p:sp>
      <p:sp>
        <p:nvSpPr>
          <p:cNvPr id="41" name="Oval 40"/>
          <p:cNvSpPr/>
          <p:nvPr/>
        </p:nvSpPr>
        <p:spPr>
          <a:xfrm>
            <a:off x="6126480" y="2962656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0" y="293522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1968" y="292608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F5F7"/>
                </a:solidFill>
              </a:rPr>
              <a:t>Smooth and reject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1968" y="325526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5-frame majority-vote removes flicker; entropy check labels uncertain frames as Unknown</a:t>
            </a:r>
          </a:p>
        </p:txBody>
      </p:sp>
      <p:sp>
        <p:nvSpPr>
          <p:cNvPr id="45" name="Oval 44"/>
          <p:cNvSpPr/>
          <p:nvPr/>
        </p:nvSpPr>
        <p:spPr>
          <a:xfrm>
            <a:off x="6126480" y="4197096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80" y="41696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1968" y="416052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F5F7"/>
                </a:solidFill>
              </a:rPr>
              <a:t>Estimate pose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01968" y="448970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Fixed-depth pinhole model back-projects the ROI into 3D at 0.5 m</a:t>
            </a:r>
          </a:p>
        </p:txBody>
      </p:sp>
      <p:sp>
        <p:nvSpPr>
          <p:cNvPr id="49" name="Oval 48"/>
          <p:cNvSpPr/>
          <p:nvPr/>
        </p:nvSpPr>
        <p:spPr>
          <a:xfrm>
            <a:off x="6126480" y="5431536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80" y="54041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1968" y="539496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F5F7"/>
                </a:solidFill>
              </a:rPr>
              <a:t>Render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01968" y="572414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Project 8 box corners with cv2.projectPoints, draw wireframe box and floating label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657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ARCHITECTURES AND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F5F7"/>
                </a:solidFill>
              </a:rPr>
              <a:t>Three approaches, one winner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783080"/>
            <a:ext cx="3657600" cy="44348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0195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CUSTOM CNN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ObjectCNN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27249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3-layer conv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31089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64x64 RGB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34930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BatchNorm + Dropout 0.4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3877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Trained from scratch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42611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2.19M parameters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596128"/>
            <a:ext cx="3383280" cy="384048"/>
          </a:xfrm>
          <a:prstGeom prst="rect">
            <a:avLst/>
          </a:prstGeom>
          <a:solidFill>
            <a:srgbClr val="1A1A1C"/>
          </a:solidFill>
          <a:ln w="12700">
            <a:solidFill>
              <a:srgbClr val="1A1A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5596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6868B"/>
                </a:solidFill>
              </a:rPr>
              <a:t>79.7% on 5 classes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1783080"/>
            <a:ext cx="3657600" cy="44348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90195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VISION TRANSFORMER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17627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ObjectViT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7249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8x8 patch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31089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64 patches per image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34930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4 transformer layers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3877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Trained from scratch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42611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0.83M parameters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5596128"/>
            <a:ext cx="3383280" cy="384048"/>
          </a:xfrm>
          <a:prstGeom prst="rect">
            <a:avLst/>
          </a:prstGeom>
          <a:solidFill>
            <a:srgbClr val="1A1A1C"/>
          </a:solidFill>
          <a:ln w="12700">
            <a:solidFill>
              <a:srgbClr val="1A1A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5596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6868B"/>
                </a:solidFill>
              </a:rPr>
              <a:t>43.2% on 10 classes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1783080"/>
            <a:ext cx="3657600" cy="4434840"/>
          </a:xfrm>
          <a:prstGeom prst="rect">
            <a:avLst/>
          </a:prstGeom>
          <a:solidFill>
            <a:srgbClr val="0A1929"/>
          </a:solidFill>
          <a:ln w="25400">
            <a:solidFill>
              <a:srgbClr val="29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190195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997FF"/>
                </a:solidFill>
              </a:rPr>
              <a:t>TRANSFER LEARNING  ❖  DEPLOYED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17627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MobileNetV2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39911" y="27249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ImageNet pretrained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9911" y="31089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224x224 RGB input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9911" y="34930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Fine-tuned classifier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9911" y="3877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Dropout 0.3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42611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2.24M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21040" y="5596128"/>
            <a:ext cx="3383280" cy="384048"/>
          </a:xfrm>
          <a:prstGeom prst="rect">
            <a:avLst/>
          </a:prstGeom>
          <a:solidFill>
            <a:srgbClr val="0D2A45"/>
          </a:solidFill>
          <a:ln w="12700">
            <a:solidFill>
              <a:srgbClr val="0D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5596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997FF"/>
                </a:solidFill>
              </a:rPr>
              <a:t>88.8% on 10 classes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657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WHERE IT STRUGGLES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F5F7"/>
                </a:solidFill>
              </a:rPr>
              <a:t>Confusion tells the story</a:t>
            </a:r>
          </a:p>
        </p:txBody>
      </p:sp>
      <p:pic>
        <p:nvPicPr>
          <p:cNvPr id="4" name="Picture 3" descr="MOBILENET_Confusion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1640"/>
            <a:ext cx="5577840" cy="502005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63640" y="1691640"/>
            <a:ext cx="5486400" cy="137160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91655" y="1801368"/>
            <a:ext cx="5230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53A"/>
                </a:solidFill>
              </a:rPr>
              <a:t>TABLET — WEAKEST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91655" y="2057400"/>
            <a:ext cx="523036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Flat rectangular devices look nearly identical to phones and laptops at certain angles. Tablet finished at 70% precision, the lowest of all 10 classes.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3200400"/>
            <a:ext cx="5486400" cy="137160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5" y="3310128"/>
            <a:ext cx="5230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D60A"/>
                </a:solidFill>
              </a:rPr>
              <a:t>HEADPHONES — CAUTIOUS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1655" y="3566160"/>
            <a:ext cx="5230368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100% precision but only 63.6% recall. The model almost never guesses headphones incorrectly, but it often misses them entirely.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4709160"/>
            <a:ext cx="5486400" cy="1417320"/>
          </a:xfrm>
          <a:prstGeom prst="rect">
            <a:avLst/>
          </a:prstGeom>
          <a:solidFill>
            <a:srgbClr val="0A1929"/>
          </a:solidFill>
          <a:ln w="127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5" y="4818888"/>
            <a:ext cx="5230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ROOT CAUSE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5" y="5074920"/>
            <a:ext cx="5230368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Errors are driven by visual ambiguity at class boundaries. PS5 controller (web-only) scored 95% on both metrics and glasses recovered to 87.5%, so data source alone does not predict failure.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657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F5F7"/>
                </a:solidFill>
              </a:rPr>
              <a:t>AR overlay in action</a:t>
            </a:r>
          </a:p>
        </p:txBody>
      </p:sp>
      <p:pic>
        <p:nvPicPr>
          <p:cNvPr id="4" name="Picture 3" descr="ar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1640"/>
            <a:ext cx="5577840" cy="31375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63640" y="16916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5F5F7"/>
                </a:solidFill>
              </a:rPr>
              <a:t>A PS5 DualSense controller is in the center ROI. The model predicts ps5_controller at 85%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51460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The green 3D wireframe box is cleanly anchored with visible front and back faces. The label tag appears above the front face.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3474720"/>
            <a:ext cx="5486400" cy="14630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58444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LIVE SESSION STATS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91363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0D158"/>
                </a:solidFill>
              </a:rPr>
              <a:t>22-30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4988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6868B"/>
                </a:solidFill>
              </a:rPr>
              <a:t>FPS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91363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997FF"/>
                </a:solidFill>
              </a:rPr>
              <a:t>0.50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4988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6868B"/>
                </a:solidFill>
              </a:rPr>
              <a:t>Confidence threshold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657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685800"/>
            <a:ext cx="2651760" cy="150876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997FF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544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object classes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685800"/>
            <a:ext cx="2651760" cy="150876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841248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0D158"/>
                </a:solidFill>
              </a:rPr>
              <a:t>88.8%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5544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test accuracy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685800"/>
            <a:ext cx="2651760" cy="150876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841248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20-30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5544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fps live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685800"/>
            <a:ext cx="2651760" cy="150876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841248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D60A"/>
                </a:solidFill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15544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printed markers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53A"/>
                </a:solidFill>
              </a:rPr>
              <a:t>REMAINING LIMITATIONS</a:t>
            </a:r>
          </a:p>
        </p:txBody>
      </p:sp>
      <p:sp>
        <p:nvSpPr>
          <p:cNvPr id="16" name="Oval 15"/>
          <p:cNvSpPr/>
          <p:nvPr/>
        </p:nvSpPr>
        <p:spPr>
          <a:xfrm>
            <a:off x="365760" y="2871216"/>
            <a:ext cx="347472" cy="347472"/>
          </a:xfrm>
          <a:prstGeom prst="ellipse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84378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53A"/>
                </a:solidFill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F5F7"/>
                </a:solidFill>
              </a:rPr>
              <a:t>Fixed center ROI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12724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Objects off to the side are not detected</a:t>
            </a:r>
          </a:p>
        </p:txBody>
      </p:sp>
      <p:sp>
        <p:nvSpPr>
          <p:cNvPr id="20" name="Oval 19"/>
          <p:cNvSpPr/>
          <p:nvPr/>
        </p:nvSpPr>
        <p:spPr>
          <a:xfrm>
            <a:off x="365760" y="3877056"/>
            <a:ext cx="347472" cy="347472"/>
          </a:xfrm>
          <a:prstGeom prst="ellipse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84962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53A"/>
                </a:solidFill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840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F5F7"/>
                </a:solidFill>
              </a:rPr>
              <a:t>Fixed depth (0.5 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1330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Box scale is incorrect at very different distances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997FF"/>
                </a:solidFill>
              </a:rPr>
              <a:t>ALREADY ADDRESSED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0" y="2871216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84378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283464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5-frame majority-vote buffer eliminates label flickering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0" y="3877056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84962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8404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Entropy-based rejection shows Unknown when no familiar object is present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0" y="62636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6868B"/>
                </a:solidFill>
              </a:rPr>
              <a:t>Sangeeth Deleep Menon  ·  NUID 002524579  ·  Raj Gupta  ·  NUID 002068701  ·  CS5330 Spring 2026  ·  Northeastern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