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6868B"/>
                </a:solidFill>
              </a:rPr>
              <a:t>CS5330  ·  FINAL PROJECT  ·  SPRING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5F5F7"/>
                </a:solidFill>
              </a:rPr>
              <a:t>Real-Time Object Recognition
and AR Overlay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41848" y="2560320"/>
            <a:ext cx="914400" cy="25400"/>
          </a:xfrm>
          <a:prstGeom prst="rect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6868B"/>
                </a:solidFill>
              </a:rPr>
              <a:t>Using deep learning to turn any everyday object into an augmented reality anchor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84048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6868B"/>
                </a:solidFill>
              </a:rPr>
              <a:t>Sangeeth Deleep Menon  ·  NUID 002524579
Khoury College of Computer Sciences  ·  Northeastern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1148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F5F7"/>
                </a:solidFill>
              </a:rPr>
              <a:t>Traditional AR needs a printed marker.
What if the object itself was the marker?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103120"/>
            <a:ext cx="4572000" cy="137160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240279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PROJECT 4 GAVE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468879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F5F7"/>
                </a:solidFill>
              </a:rPr>
              <a:t>AR rendering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63239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3D graphics overlaid using a chessboard calibration target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2103120"/>
            <a:ext cx="4572000" cy="137160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2240279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PROJECT 5 GAVE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468879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F5F7"/>
                </a:solidFill>
              </a:rPr>
              <a:t>Deep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3063239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CNNs and Vision Transformers trained to classify images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749039"/>
            <a:ext cx="10360152" cy="685800"/>
          </a:xfrm>
          <a:prstGeom prst="rect">
            <a:avLst/>
          </a:prstGeom>
          <a:solidFill>
            <a:srgbClr val="0A1929"/>
          </a:solidFill>
          <a:ln w="1270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9476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2997FF"/>
                </a:solidFill>
              </a:rPr>
              <a:t>This project combines both — no marker required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1148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F5F7"/>
                </a:solidFill>
              </a:rPr>
              <a:t>A three-step pipeline</a:t>
            </a:r>
          </a:p>
        </p:txBody>
      </p:sp>
      <p:sp>
        <p:nvSpPr>
          <p:cNvPr id="4" name="Oval 3"/>
          <p:cNvSpPr/>
          <p:nvPr/>
        </p:nvSpPr>
        <p:spPr>
          <a:xfrm>
            <a:off x="1828800" y="1965960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9385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19202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F5F7"/>
                </a:solidFill>
              </a:rPr>
              <a:t>Classify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224028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Crop a center ROI from the webcam frame and run it through MobileNetV2 to get a class and confidence score</a:t>
            </a:r>
          </a:p>
        </p:txBody>
      </p:sp>
      <p:sp>
        <p:nvSpPr>
          <p:cNvPr id="8" name="Oval 7"/>
          <p:cNvSpPr/>
          <p:nvPr/>
        </p:nvSpPr>
        <p:spPr>
          <a:xfrm>
            <a:off x="1828800" y="3154680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31272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3108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F5F7"/>
                </a:solidFill>
              </a:rPr>
              <a:t>Estimate 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34290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Use a fixed-depth pinhole camera model to back-project the ROI bounding box into 3D space at 0.5 m</a:t>
            </a:r>
          </a:p>
        </p:txBody>
      </p:sp>
      <p:sp>
        <p:nvSpPr>
          <p:cNvPr id="12" name="Oval 11"/>
          <p:cNvSpPr/>
          <p:nvPr/>
        </p:nvSpPr>
        <p:spPr>
          <a:xfrm>
            <a:off x="1828800" y="4343400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431596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42976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F5F7"/>
                </a:solidFill>
              </a:rPr>
              <a:t>Render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46177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Project 8 box corners back to pixels with cv2.projectPoints and draw a 3D wireframe box with a floating label tag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1148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F5F7"/>
                </a:solidFill>
              </a:rPr>
              <a:t>10 classes  ·  1419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783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IMAGES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783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10312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161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10312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0D158"/>
                </a:solidFill>
              </a:rPr>
              <a:t>Webcam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8716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cup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8716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173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4871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0D158"/>
                </a:solidFill>
              </a:rPr>
              <a:t>Webcam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871215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keyboard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871215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152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871215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0D158"/>
                </a:solidFill>
              </a:rPr>
              <a:t>Webcam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55263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255263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171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3255263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0D158"/>
                </a:solidFill>
              </a:rPr>
              <a:t>Webcam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639311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phone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639311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159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3639311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0D158"/>
                </a:solidFill>
              </a:rPr>
              <a:t>Webcam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233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glasses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02336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130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40233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6868B"/>
                </a:solidFill>
              </a:rPr>
              <a:t>Web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4074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headphones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4074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110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440740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6868B"/>
                </a:solidFill>
              </a:rPr>
              <a:t>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9145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laptop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47914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123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479145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6868B"/>
                </a:solidFill>
              </a:rPr>
              <a:t>Web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17550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ps5_controller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51755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102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517550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6868B"/>
                </a:solidFill>
              </a:rPr>
              <a:t>Web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5955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tablet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55595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138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55595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6868B"/>
                </a:solidFill>
              </a:rPr>
              <a:t>Web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1828800"/>
            <a:ext cx="5029200" cy="118872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0840" y="196596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TRAIN / VAL / TEST SPLIT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20840" y="21945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F5F7"/>
                </a:solidFill>
              </a:rPr>
              <a:t>70%  /  15%  /  15%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2788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Fixed seed 42 — fully reproducible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0" y="3154680"/>
            <a:ext cx="5029200" cy="100584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20840" y="329184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AUGMENTATION (TRAIN ONLY)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20840" y="352044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F5F7"/>
                </a:solidFill>
              </a:rPr>
              <a:t>Flip · Jitter · ±15° rotation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0" y="4297680"/>
            <a:ext cx="5029200" cy="1051560"/>
          </a:xfrm>
          <a:prstGeom prst="rect">
            <a:avLst/>
          </a:prstGeom>
          <a:solidFill>
            <a:srgbClr val="0A1929"/>
          </a:solidFill>
          <a:ln w="1270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20840" y="443484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KEY OBSERVATION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0840" y="5257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Webcam classes outperform web-only classes — data quality matters more than quantity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1148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MODEL ARCHITECTURES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F5F7"/>
                </a:solidFill>
              </a:rPr>
              <a:t>Three approaches, one winner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828800"/>
            <a:ext cx="3657600" cy="438912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202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CUSTOM CNN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945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F5F7"/>
                </a:solidFill>
              </a:rPr>
              <a:t>ObjectCNN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3-layer conv network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64×64 RGB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BatchNorm + Dropout 0.4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947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Trained from scratch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60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~1.2M parameters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5577840"/>
            <a:ext cx="3383280" cy="41148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5778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6868B"/>
                </a:solidFill>
              </a:rPr>
              <a:t>~100% on 5 classes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828800"/>
            <a:ext cx="3657600" cy="438912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9202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VISION TRANSFORMER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1945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F5F7"/>
                </a:solidFill>
              </a:rPr>
              <a:t>ObjectViT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97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8×8 patch embedding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063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64 patches per image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429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4 transformer layers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7947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Trained from scratch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160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128-dim embeddings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5577840"/>
            <a:ext cx="3383280" cy="411480"/>
          </a:xfrm>
          <a:prstGeom prst="rect">
            <a:avLst/>
          </a:prstGeom>
          <a:solidFill>
            <a:srgbClr val="1A1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55778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6868B"/>
                </a:solidFill>
              </a:rPr>
              <a:t>Slower to converge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1828800"/>
            <a:ext cx="3657600" cy="4389120"/>
          </a:xfrm>
          <a:prstGeom prst="rect">
            <a:avLst/>
          </a:prstGeom>
          <a:solidFill>
            <a:srgbClr val="0A1929"/>
          </a:solidFill>
          <a:ln w="19050">
            <a:solidFill>
              <a:srgbClr val="29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19202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997FF"/>
                </a:solidFill>
              </a:rPr>
              <a:t>TRANSFER LEARNING  ✦  DEPLOYED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21945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F5F7"/>
                </a:solidFill>
              </a:rPr>
              <a:t>MobileNetV2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2697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ImageNet pretrained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3063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224×224 RGB input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429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Fine-tuned classifier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7947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Dropout 0.3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160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Best on noisy web data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66760" y="5577840"/>
            <a:ext cx="3383280" cy="411480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55778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997FF"/>
                </a:solidFill>
              </a:rPr>
              <a:t>84.1% on 10 classes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1148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F5F7"/>
                </a:solidFill>
              </a:rPr>
              <a:t>Numbers that matter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737360"/>
            <a:ext cx="3474720" cy="1463040"/>
          </a:xfrm>
          <a:prstGeom prst="rect">
            <a:avLst/>
          </a:prstGeom>
          <a:solidFill>
            <a:srgbClr val="0A1A10"/>
          </a:solidFill>
          <a:ln w="12700">
            <a:solidFill>
              <a:srgbClr val="1A4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74519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TEST ACCURACY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0D158"/>
                </a:solidFill>
              </a:rPr>
              <a:t>84.1%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97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MobileNetV2 on 10-class held-out test 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78808" y="1737360"/>
            <a:ext cx="3474720" cy="1463040"/>
          </a:xfrm>
          <a:prstGeom prst="rect">
            <a:avLst/>
          </a:prstGeom>
          <a:solidFill>
            <a:srgbClr val="0A1929"/>
          </a:solidFill>
          <a:ln w="1270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5968" y="1874519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LIVE FRAME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21031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997FF"/>
                </a:solidFill>
              </a:rPr>
              <a:t>30 fps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2697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Apple M-series with MPS acceleration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82712" y="1737360"/>
            <a:ext cx="3474720" cy="146304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9872" y="1874519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STRONGEST CLASS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9872" y="21031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F5F7"/>
                </a:solidFill>
              </a:rPr>
              <a:t>Phone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9872" y="2697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29 of 30 test images correct</a:t>
            </a:r>
          </a:p>
        </p:txBody>
      </p:sp>
      <p:pic>
        <p:nvPicPr>
          <p:cNvPr id="16" name="Picture 15" descr="MOBILENET_Loss&amp;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383280"/>
            <a:ext cx="11430000" cy="35169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1148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WHERE IT STRUGGLES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F5F7"/>
                </a:solidFill>
              </a:rPr>
              <a:t>Confusion tells the story</a:t>
            </a:r>
          </a:p>
        </p:txBody>
      </p:sp>
      <p:pic>
        <p:nvPicPr>
          <p:cNvPr id="4" name="Picture 3" descr="MOBILENET_Confusion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1640"/>
            <a:ext cx="5486400" cy="49377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309360" y="1691640"/>
            <a:ext cx="5394960" cy="128016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53A"/>
                </a:solidFill>
              </a:rPr>
              <a:t>GLASSES — WEAKEST 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26517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Web crawl mixed eyeglasses with drinking glasses. The model had no way to separate them.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3108960"/>
            <a:ext cx="5394960" cy="128016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324612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D60A"/>
                </a:solidFill>
              </a:rPr>
              <a:t>TABLET ↔ PHONE CONFUSION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0690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Flat rectangles look alike at certain angles. The AR screenshot shows this exact case live.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4526280"/>
            <a:ext cx="5394960" cy="1188720"/>
          </a:xfrm>
          <a:prstGeom prst="rect">
            <a:avLst/>
          </a:prstGeom>
          <a:solidFill>
            <a:srgbClr val="0A1929"/>
          </a:solidFill>
          <a:ln w="1270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66344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ROOT CAUSE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54864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All 5 weak classes used web images only. Webcam-captured classes had near-perfect scores.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1148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F5F7"/>
                </a:solidFill>
              </a:rPr>
              <a:t>AR overlay in action</a:t>
            </a:r>
          </a:p>
        </p:txBody>
      </p:sp>
      <p:pic>
        <p:nvPicPr>
          <p:cNvPr id="4" name="Picture 3" descr="ar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1640"/>
            <a:ext cx="5486400" cy="30861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169164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5F5F7"/>
                </a:solidFill>
              </a:rPr>
              <a:t>A tablet is in frame. The model predicts phone at 84% confidence.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42316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The 3D wireframe box and label are rendered correctly around the detected region even though the class is wrong — the AR pipeline itself is robust.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3291840"/>
            <a:ext cx="5486400" cy="137160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33375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● LIVE STATS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657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0D158"/>
                </a:solidFill>
              </a:rPr>
              <a:t>29.8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6868B"/>
                </a:solidFill>
              </a:rPr>
              <a:t>FPS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657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997FF"/>
                </a:solidFill>
              </a:rPr>
              <a:t>0.60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114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6868B"/>
                </a:solidFill>
              </a:rPr>
              <a:t>Confidence threshold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1148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LIMITATIONS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F5F7"/>
                </a:solidFill>
              </a:rPr>
              <a:t>Honest about the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916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53A"/>
                </a:solidFill>
              </a:rPr>
              <a:t>CURRENT LIMITATIONS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2057400"/>
            <a:ext cx="347472" cy="347472"/>
          </a:xfrm>
          <a:prstGeom prst="ellipse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02996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453A"/>
                </a:solidFill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F5F7"/>
                </a:solidFill>
              </a:rPr>
              <a:t>Fixed center ROI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Only detects objects at center of frame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3063240"/>
            <a:ext cx="347472" cy="347472"/>
          </a:xfrm>
          <a:prstGeom prst="ellipse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03580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453A"/>
                </a:solidFill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175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F5F7"/>
                </a:solidFill>
              </a:rPr>
              <a:t>Fixed depth (0.5 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1012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Box scale is wrong at very close or far distances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069080"/>
            <a:ext cx="347472" cy="347472"/>
          </a:xfrm>
          <a:prstGeom prst="ellipse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0416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453A"/>
                </a:solidFill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233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F5F7"/>
                </a:solidFill>
              </a:rPr>
              <a:t>No background class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31596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Always outputs a class even when nothing is there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5074920"/>
            <a:ext cx="347472" cy="347472"/>
          </a:xfrm>
          <a:prstGeom prst="ellipse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0474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453A"/>
                </a:solidFill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0292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F5F7"/>
                </a:solidFill>
              </a:rPr>
              <a:t>Prediction flicker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32180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No temporal smoothing between frames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6916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997FF"/>
                </a:solidFill>
              </a:rPr>
              <a:t>EASY WINS NEXT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0" y="2057400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02996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201168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Collect webcam images for the 5 web-only classes → push accuracy above 90%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0" y="3063240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03580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301752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Add a 5-frame history buffer to smooth out prediction flickering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0" y="4069080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0416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402336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Add a background class so the system can say "I don't know"</a:t>
            </a:r>
          </a:p>
        </p:txBody>
      </p:sp>
      <p:sp>
        <p:nvSpPr>
          <p:cNvPr id="31" name="Oval 30"/>
          <p:cNvSpPr/>
          <p:nvPr/>
        </p:nvSpPr>
        <p:spPr>
          <a:xfrm>
            <a:off x="6400800" y="5074920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0474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502920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Replace the fixed ROI with a sliding-window or YOLO-based detector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1148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745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5F5F7"/>
                </a:solidFill>
              </a:rPr>
              <a:t>Any object the network knows
becomes its own AR anchor.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468880"/>
            <a:ext cx="2743200" cy="146304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997FF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6868B"/>
                </a:solidFill>
              </a:rPr>
              <a:t>object classes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468880"/>
            <a:ext cx="2743200" cy="146304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26060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0D158"/>
                </a:solidFill>
              </a:rPr>
              <a:t>84.1%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6868B"/>
                </a:solidFill>
              </a:rPr>
              <a:t>test accuracy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468880"/>
            <a:ext cx="2743200" cy="146304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6060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F5F7"/>
                </a:solidFill>
              </a:rPr>
              <a:t>30 fps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6868B"/>
                </a:solidFill>
              </a:rPr>
              <a:t>live inference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2468880"/>
            <a:ext cx="2743200" cy="146304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26060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D60A"/>
                </a:solidFill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3291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6868B"/>
                </a:solidFill>
              </a:rPr>
              <a:t>printed markers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1206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6868B"/>
                </a:solidFill>
              </a:rPr>
              <a:t>Sangeeth Deleep Menon  ·  CS5330 Spring 2026  ·  Northeastern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